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307" r:id="rId2"/>
    <p:sldId id="338" r:id="rId3"/>
    <p:sldId id="363" r:id="rId4"/>
    <p:sldId id="364" r:id="rId5"/>
    <p:sldId id="365" r:id="rId6"/>
    <p:sldId id="371" r:id="rId7"/>
    <p:sldId id="370" r:id="rId8"/>
    <p:sldId id="372" r:id="rId9"/>
    <p:sldId id="366" r:id="rId10"/>
    <p:sldId id="369" r:id="rId11"/>
    <p:sldId id="368" r:id="rId12"/>
    <p:sldId id="386" r:id="rId13"/>
    <p:sldId id="373" r:id="rId14"/>
    <p:sldId id="381" r:id="rId15"/>
    <p:sldId id="382" r:id="rId16"/>
    <p:sldId id="385" r:id="rId17"/>
    <p:sldId id="384" r:id="rId18"/>
    <p:sldId id="383" r:id="rId19"/>
    <p:sldId id="376" r:id="rId20"/>
    <p:sldId id="387" r:id="rId21"/>
  </p:sldIdLst>
  <p:sldSz cx="12960350" cy="6840538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A418856-1B13-0E4D-B8D9-6D6ECDDA5229}">
          <p14:sldIdLst>
            <p14:sldId id="307"/>
            <p14:sldId id="338"/>
            <p14:sldId id="363"/>
            <p14:sldId id="364"/>
            <p14:sldId id="365"/>
            <p14:sldId id="371"/>
            <p14:sldId id="370"/>
            <p14:sldId id="372"/>
            <p14:sldId id="366"/>
            <p14:sldId id="369"/>
            <p14:sldId id="368"/>
            <p14:sldId id="386"/>
            <p14:sldId id="373"/>
            <p14:sldId id="381"/>
            <p14:sldId id="382"/>
            <p14:sldId id="385"/>
            <p14:sldId id="384"/>
            <p14:sldId id="383"/>
            <p14:sldId id="376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pos="657" userDrawn="1">
          <p15:clr>
            <a:srgbClr val="A4A3A4"/>
          </p15:clr>
        </p15:guide>
        <p15:guide id="2" orient="horz" pos="703" userDrawn="1">
          <p15:clr>
            <a:srgbClr val="A4A3A4"/>
          </p15:clr>
        </p15:guide>
        <p15:guide id="3" pos="72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лена Елена" initials="ЕЕ" lastIdx="2" clrIdx="0"/>
  <p:cmAuthor id="2" name="Microsoft Office User" initials="MOU" lastIdx="2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003E"/>
    <a:srgbClr val="E0150F"/>
    <a:srgbClr val="E6E6E6"/>
    <a:srgbClr val="EB5E3F"/>
    <a:srgbClr val="AFABAB"/>
    <a:srgbClr val="6D6D6D"/>
    <a:srgbClr val="48494A"/>
    <a:srgbClr val="061A6C"/>
    <a:srgbClr val="40404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5" autoAdjust="0"/>
    <p:restoredTop sz="94420"/>
  </p:normalViewPr>
  <p:slideViewPr>
    <p:cSldViewPr snapToGrid="0">
      <p:cViewPr varScale="1">
        <p:scale>
          <a:sx n="111" d="100"/>
          <a:sy n="111" d="100"/>
        </p:scale>
        <p:origin x="640" y="208"/>
      </p:cViewPr>
      <p:guideLst>
        <p:guide pos="657"/>
        <p:guide orient="horz" pos="703"/>
        <p:guide pos="72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48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3E0A430-837D-E7C5-983F-2AC26FDAD7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EE9441-65C1-B64F-8667-B9FC3CE2D8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E56D9-39C2-4B49-861D-FB4C07C2E7DE}" type="datetimeFigureOut">
              <a:rPr lang="ru-US" smtClean="0"/>
              <a:t>10/14/26</a:t>
            </a:fld>
            <a:endParaRPr lang="ru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387587-1AE5-D027-2933-72824A7E75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C2E427-F86C-3DD5-5379-9DBC9FBA20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6F1C7-FD93-2346-B905-6502438E2CCF}" type="slidenum">
              <a:rPr lang="ru-US" smtClean="0"/>
              <a:t>‹#›</a:t>
            </a:fld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242193610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42888" y="1233488"/>
            <a:ext cx="63119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119505"/>
            <a:ext cx="9720263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0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364196"/>
            <a:ext cx="11178302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676882"/>
            <a:ext cx="54828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498697"/>
            <a:ext cx="548283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676882"/>
            <a:ext cx="5509837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498697"/>
            <a:ext cx="5509837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18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761A6D-E025-ED50-4287-24ECE36ED8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43" y="239405"/>
            <a:ext cx="894267" cy="3198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0C2274-20E7-0C84-678A-7BC227870B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AA3578-2E3E-AC0A-C0A4-03BA169D6B14}"/>
              </a:ext>
            </a:extLst>
          </p:cNvPr>
          <p:cNvSpPr/>
          <p:nvPr userDrawn="1"/>
        </p:nvSpPr>
        <p:spPr>
          <a:xfrm>
            <a:off x="-3243" y="239405"/>
            <a:ext cx="894267" cy="319820"/>
          </a:xfrm>
          <a:prstGeom prst="rect">
            <a:avLst/>
          </a:prstGeom>
          <a:solidFill>
            <a:srgbClr val="BE0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984911"/>
            <a:ext cx="6561177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54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984911"/>
            <a:ext cx="6561177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364195"/>
            <a:ext cx="2794575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364195"/>
            <a:ext cx="8221722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1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364196"/>
            <a:ext cx="11178302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17830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2549-D5F9-604B-9EB9-69E1A6399CB9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6340166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9B13A7-08E0-8CB3-E315-300BD986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39" y="281432"/>
            <a:ext cx="1862895" cy="8200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4C5DD-107D-2FFB-F588-4CEF154F9BFD}"/>
              </a:ext>
            </a:extLst>
          </p:cNvPr>
          <p:cNvSpPr txBox="1"/>
          <p:nvPr/>
        </p:nvSpPr>
        <p:spPr>
          <a:xfrm>
            <a:off x="517374" y="2050622"/>
            <a:ext cx="914914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b="1" dirty="0">
                <a:solidFill>
                  <a:srgbClr val="BE003E"/>
                </a:solidFill>
                <a:cs typeface="Times New Roman" panose="02020603050405020304" pitchFamily="18" charset="0"/>
              </a:rPr>
              <a:t>Исследование качества сопоставимых </a:t>
            </a:r>
            <a:r>
              <a:rPr lang="en" sz="32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reranker</a:t>
            </a:r>
            <a:r>
              <a:rPr lang="en" sz="3200" b="1" dirty="0">
                <a:solidFill>
                  <a:srgbClr val="BE003E"/>
                </a:solidFill>
                <a:cs typeface="Times New Roman" panose="02020603050405020304" pitchFamily="18" charset="0"/>
              </a:rPr>
              <a:t> </a:t>
            </a:r>
            <a:r>
              <a:rPr lang="ru-RU" sz="3200" b="1" dirty="0">
                <a:solidFill>
                  <a:srgbClr val="BE003E"/>
                </a:solidFill>
                <a:cs typeface="Times New Roman" panose="02020603050405020304" pitchFamily="18" charset="0"/>
              </a:rPr>
              <a:t>и </a:t>
            </a:r>
            <a:r>
              <a:rPr lang="en" sz="3200" b="1" dirty="0">
                <a:solidFill>
                  <a:srgbClr val="BE003E"/>
                </a:solidFill>
                <a:cs typeface="Times New Roman" panose="02020603050405020304" pitchFamily="18" charset="0"/>
              </a:rPr>
              <a:t>bi-encoder</a:t>
            </a:r>
            <a:endParaRPr lang="ru-RU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F5F4EB-1596-A817-3F15-75EFDACD9F62}"/>
              </a:ext>
            </a:extLst>
          </p:cNvPr>
          <p:cNvSpPr txBox="1"/>
          <p:nvPr/>
        </p:nvSpPr>
        <p:spPr>
          <a:xfrm>
            <a:off x="517374" y="3978303"/>
            <a:ext cx="914914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88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D455D-AF76-018D-A4FB-B3BAF76C52CE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62D8E-BA4C-D1AB-4C47-A34C1F30CE78}"/>
              </a:ext>
            </a:extLst>
          </p:cNvPr>
          <p:cNvSpPr txBox="1"/>
          <p:nvPr/>
        </p:nvSpPr>
        <p:spPr>
          <a:xfrm>
            <a:off x="965303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Актуальность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DB8E16-1315-AC83-2816-18967C0C1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31" y="1441966"/>
            <a:ext cx="99757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современных системах информационного поиска ключевой задачей является эффективное ранжирование документов по релевантности запросу. Два основных подхода к решению этой задачи: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Bi-encoder 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кодирует запрос и документ независимо, позволяет быстрое индексирование и поиск, но страдает от потери контекстного взаимодействия.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Reranker</a:t>
            </a:r>
            <a:r>
              <a:rPr kumimoji="0" lang="en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(cross-encoder)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ч- обрабатывает пару (запрос, документ) совместно, обеспечивая высокую точность, но требует попарной обработки для каждого кандидата.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28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50C1-9538-BF44-721B-4C7AED60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FE2EAB-8D9C-4106-FD94-A172F1A0FDE3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82AE9-C33F-E0D9-9D63-B1577A64EB0B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B0B9-2DB1-C045-F834-E602D0DF40BB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36A9C3-E919-0F51-4E35-B4498D24C2CB}"/>
              </a:ext>
            </a:extLst>
          </p:cNvPr>
          <p:cNvSpPr txBox="1"/>
          <p:nvPr/>
        </p:nvSpPr>
        <p:spPr>
          <a:xfrm>
            <a:off x="742142" y="835689"/>
            <a:ext cx="111774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Цель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ru-US">
                <a:solidFill>
                  <a:srgbClr val="000000"/>
                </a:solidFill>
                <a:latin typeface="Arial" panose="020B0604020202020204" pitchFamily="34" charset="0"/>
              </a:rPr>
              <a:t> количественно оценить сопоставимость качества ранжирования двух типов моделей -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bi-encoder </a:t>
            </a:r>
            <a:r>
              <a:rPr lang="ru-US">
                <a:solidFill>
                  <a:srgbClr val="000000"/>
                </a:solidFill>
                <a:latin typeface="Arial" panose="020B0604020202020204" pitchFamily="34" charset="0"/>
              </a:rPr>
              <a:t>и </a:t>
            </a:r>
            <a:r>
              <a:rPr lang="en" dirty="0" err="1">
                <a:solidFill>
                  <a:srgbClr val="000000"/>
                </a:solidFill>
                <a:latin typeface="Arial" panose="020B0604020202020204" pitchFamily="34" charset="0"/>
              </a:rPr>
              <a:t>reranker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 (cross-encoder), </a:t>
            </a:r>
            <a:r>
              <a:rPr lang="ru-US">
                <a:solidFill>
                  <a:srgbClr val="000000"/>
                </a:solidFill>
                <a:latin typeface="Arial" panose="020B0604020202020204" pitchFamily="34" charset="0"/>
              </a:rPr>
              <a:t>а также определить эффективность гибридных схем их совместного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US">
                <a:solidFill>
                  <a:srgbClr val="000000"/>
                </a:solidFill>
                <a:latin typeface="Arial" panose="020B0604020202020204" pitchFamily="34" charset="0"/>
              </a:rPr>
              <a:t>использования задаче формациого поиска</a:t>
            </a:r>
            <a:b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Задачи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1. выбрать экспериментальные базы и провести предобработку данных; 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2. провести сравнительный анализ трёх пар моделей на датасетах различной тематики;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3. исследовать гибридные схемы ранжирования с различными значениями количества кандидатов, передаваемых от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BE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к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RR; </a:t>
            </a:r>
          </a:p>
          <a:p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 4.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оценить статистическую значимость различий между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BE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RR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с помощью теста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Вилкоксона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5. проанализировать ошибки моделей;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6. оценить согласованность ранжирования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BE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RR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через корреляцию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Спирмена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7. сделать выводы.</a:t>
            </a: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Гипотезы: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H1: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Reranker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 улучшает качество BE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H2: RR-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large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 лучше RR-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small</a:t>
            </a:r>
            <a:endParaRPr lang="ru-RU" alt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H3: e5-small-v2 лучше MiniLM-L6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H4: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Negation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-запросы - наибольший выигрыш от RR</a:t>
            </a:r>
          </a:p>
        </p:txBody>
      </p:sp>
    </p:spTree>
    <p:extLst>
      <p:ext uri="{BB962C8B-B14F-4D97-AF65-F5344CB8AC3E}">
        <p14:creationId xmlns:p14="http://schemas.microsoft.com/office/powerpoint/2010/main" val="207350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5C9E-1707-5B19-78F8-A81187C9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D2AE9B-64CF-DE87-95EE-076A532DF126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D1ADA-2658-510E-D034-26DBADA4104A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526D7-6AF2-E194-3FC7-0D792B6911F0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Bi-Encoder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59EC5-6BBE-C901-644E-0FCA57BE17F5}"/>
              </a:ext>
            </a:extLst>
          </p:cNvPr>
          <p:cNvSpPr txBox="1"/>
          <p:nvPr/>
        </p:nvSpPr>
        <p:spPr>
          <a:xfrm>
            <a:off x="600116" y="1257300"/>
            <a:ext cx="1073887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Архитектура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 запрос и документ проходят через отдельные (или общие) веса энкодера, на выходе получается вектор -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эмбеддинг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. </a:t>
            </a:r>
          </a:p>
          <a:p>
            <a:pPr>
              <a:spcAft>
                <a:spcPts val="1200"/>
              </a:spcAft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Преимущества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>
              <a:spcAft>
                <a:spcPts val="1200"/>
              </a:spcAft>
              <a:buNone/>
            </a:pP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Эмбеддинги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документов вычисляются заранее и индексируются (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FAISS, HNSW)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Поиск по миллиону документов занимает миллисекунды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Линейная масштабируемость</a:t>
            </a: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Недостаток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 запрос и документ не видят друг друга при кодировании - модель не улавливает тонкие взаимодействия между ними. Например, отрицание или сложный контекст теряются. + отсутствие перекрёстного внимания</a:t>
            </a:r>
          </a:p>
          <a:p>
            <a:pPr>
              <a:spcAft>
                <a:spcPts val="1200"/>
              </a:spcAft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Примеры моделей: </a:t>
            </a:r>
          </a:p>
          <a:p>
            <a:pPr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all-MiniLM-L6-v2, </a:t>
            </a:r>
            <a:r>
              <a:rPr lang="en" dirty="0" err="1">
                <a:solidFill>
                  <a:srgbClr val="000000"/>
                </a:solidFill>
                <a:latin typeface="Arial" panose="020B0604020202020204" pitchFamily="34" charset="0"/>
              </a:rPr>
              <a:t>intfloat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/e5-small-v2, sentence-transformers/msmarco-distilbert-base-v4</a:t>
            </a:r>
          </a:p>
        </p:txBody>
      </p:sp>
    </p:spTree>
    <p:extLst>
      <p:ext uri="{BB962C8B-B14F-4D97-AF65-F5344CB8AC3E}">
        <p14:creationId xmlns:p14="http://schemas.microsoft.com/office/powerpoint/2010/main" val="399630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8D28-0CEC-5FAD-B45D-DE41D6DFE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0493A3-093F-B782-2DD4-DA8654504E2E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8C820-CEB8-69D7-BF48-B8108E91D389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7431-0F2D-667B-E938-B5861F213CB6}"/>
              </a:ext>
            </a:extLst>
          </p:cNvPr>
          <p:cNvSpPr txBox="1"/>
          <p:nvPr/>
        </p:nvSpPr>
        <p:spPr>
          <a:xfrm>
            <a:off x="884168" y="163881"/>
            <a:ext cx="9813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8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Reranker</a:t>
            </a:r>
            <a:endParaRPr lang="en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  <a:p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97BF6-5E69-2D23-5921-21F379415060}"/>
              </a:ext>
            </a:extLst>
          </p:cNvPr>
          <p:cNvSpPr txBox="1"/>
          <p:nvPr/>
        </p:nvSpPr>
        <p:spPr>
          <a:xfrm>
            <a:off x="611777" y="1118016"/>
            <a:ext cx="93573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Архитектура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 [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CLS]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запрос [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SEP]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документ [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SEP] -&gt;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трансформер -&gt; линейный слой -&gt;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score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Механизм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self-attention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работает сразу над всей парой, каждый токен запроса видит каждый токен документа </a:t>
            </a:r>
            <a:b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Преимущества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Полный контекст взаимодействия запроса и документа 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Улавливает отрицания, синонимы, семантические нюансы</a:t>
            </a:r>
          </a:p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Значительно точнее </a:t>
            </a: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bi-encoder</a:t>
            </a:r>
          </a:p>
          <a:p>
            <a:endParaRPr lang="e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Недостаток: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нельзя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предвычислить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эмбеддинги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заранее – каждую пару нужно обрабатывать заново. То есть медленная скорость </a:t>
            </a: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Примеры моделей:</a:t>
            </a:r>
          </a:p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Arial" panose="020B0604020202020204" pitchFamily="34" charset="0"/>
              </a:rPr>
              <a:t>Cross-encoder/ms-macro-MiniLM-L-6-v2, cross-encoder/ms-macro-MinoLM-L-12-v2</a:t>
            </a:r>
          </a:p>
        </p:txBody>
      </p:sp>
    </p:spTree>
    <p:extLst>
      <p:ext uri="{BB962C8B-B14F-4D97-AF65-F5344CB8AC3E}">
        <p14:creationId xmlns:p14="http://schemas.microsoft.com/office/powerpoint/2010/main" val="18671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146A-EE66-161A-45CD-1C236B45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8723EC-3656-7D4F-0ED1-50BE9FA66D7C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5FAC7-DB44-9D43-4598-1F44B7B64E9E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46838-052B-CB42-F65A-0F17920933A0}"/>
              </a:ext>
            </a:extLst>
          </p:cNvPr>
          <p:cNvSpPr txBox="1"/>
          <p:nvPr/>
        </p:nvSpPr>
        <p:spPr>
          <a:xfrm>
            <a:off x="884168" y="199050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Базы</a:t>
            </a:r>
            <a:r>
              <a:rPr lang="ru-US" sz="2800" b="1">
                <a:solidFill>
                  <a:srgbClr val="BE003E"/>
                </a:solidFill>
                <a:cs typeface="Times New Roman" panose="02020603050405020304" pitchFamily="18" charset="0"/>
              </a:rPr>
              <a:t> данных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11CAAF9-97CB-C031-FB2B-CAF5D2133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86991"/>
              </p:ext>
            </p:extLst>
          </p:nvPr>
        </p:nvGraphicFramePr>
        <p:xfrm>
          <a:off x="646868" y="1019993"/>
          <a:ext cx="10050772" cy="1880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2693">
                  <a:extLst>
                    <a:ext uri="{9D8B030D-6E8A-4147-A177-3AD203B41FA5}">
                      <a16:colId xmlns:a16="http://schemas.microsoft.com/office/drawing/2014/main" val="479060121"/>
                    </a:ext>
                  </a:extLst>
                </a:gridCol>
                <a:gridCol w="2512693">
                  <a:extLst>
                    <a:ext uri="{9D8B030D-6E8A-4147-A177-3AD203B41FA5}">
                      <a16:colId xmlns:a16="http://schemas.microsoft.com/office/drawing/2014/main" val="2113378585"/>
                    </a:ext>
                  </a:extLst>
                </a:gridCol>
                <a:gridCol w="2512693">
                  <a:extLst>
                    <a:ext uri="{9D8B030D-6E8A-4147-A177-3AD203B41FA5}">
                      <a16:colId xmlns:a16="http://schemas.microsoft.com/office/drawing/2014/main" val="1994075615"/>
                    </a:ext>
                  </a:extLst>
                </a:gridCol>
                <a:gridCol w="2512693">
                  <a:extLst>
                    <a:ext uri="{9D8B030D-6E8A-4147-A177-3AD203B41FA5}">
                      <a16:colId xmlns:a16="http://schemas.microsoft.com/office/drawing/2014/main" val="1828782286"/>
                    </a:ext>
                  </a:extLst>
                </a:gridCol>
              </a:tblGrid>
              <a:tr h="38157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Датасет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Корпус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Кол-во запросов в выборке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Релевантность на запрос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069164"/>
                  </a:ext>
                </a:extLst>
              </a:tr>
              <a:tr h="427638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N</a:t>
                      </a:r>
                      <a:r>
                        <a:rPr lang="en-US" dirty="0"/>
                        <a:t>Q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~</a:t>
                      </a:r>
                      <a:r>
                        <a:rPr lang="en-US" dirty="0"/>
                        <a:t>2.6</a:t>
                      </a:r>
                      <a:r>
                        <a:rPr lang="ru-RU" dirty="0"/>
                        <a:t>млн(пул </a:t>
                      </a:r>
                      <a:r>
                        <a:rPr lang="en-US" dirty="0"/>
                        <a:t>~</a:t>
                      </a:r>
                      <a:r>
                        <a:rPr lang="ru-RU" dirty="0"/>
                        <a:t>50тыс)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144861"/>
                  </a:ext>
                </a:extLst>
              </a:tr>
              <a:tr h="43496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FiQA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</a:t>
                      </a:r>
                      <a:r>
                        <a:rPr lang="ru-RU" dirty="0"/>
                        <a:t>57тыс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685149"/>
                  </a:ext>
                </a:extLst>
              </a:tr>
              <a:tr h="37953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NFCorpus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</a:t>
                      </a:r>
                      <a:r>
                        <a:rPr lang="ru-RU" dirty="0"/>
                        <a:t>3.6тыс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205131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BF86527B-5DC5-7C56-08DC-B74FCB98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73" y="5718158"/>
            <a:ext cx="114250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dirty="0">
                <a:latin typeface="Arial" panose="020B0604020202020204" pitchFamily="34" charset="0"/>
              </a:rPr>
            </a:b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Запросы каждого датасета классифицированы на 4типа: </a:t>
            </a:r>
            <a:r>
              <a:rPr lang="ru-RU" altLang="ru-RU" b="1" dirty="0" err="1">
                <a:solidFill>
                  <a:srgbClr val="000000"/>
                </a:solidFill>
                <a:latin typeface="Arial" panose="020B0604020202020204" pitchFamily="34" charset="0"/>
              </a:rPr>
              <a:t>factoid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, </a:t>
            </a:r>
            <a:r>
              <a:rPr lang="ru-RU" altLang="ru-RU" b="1" dirty="0" err="1">
                <a:solidFill>
                  <a:srgbClr val="000000"/>
                </a:solidFill>
                <a:latin typeface="Arial" panose="020B0604020202020204" pitchFamily="34" charset="0"/>
              </a:rPr>
              <a:t>multi_aspect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, </a:t>
            </a:r>
            <a:r>
              <a:rPr lang="ru-RU" altLang="ru-RU" b="1" dirty="0" err="1">
                <a:solidFill>
                  <a:srgbClr val="000000"/>
                </a:solidFill>
                <a:latin typeface="Arial" panose="020B0604020202020204" pitchFamily="34" charset="0"/>
              </a:rPr>
              <a:t>negation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, </a:t>
            </a:r>
            <a:r>
              <a:rPr lang="ru-RU" altLang="ru-RU" b="1" dirty="0" err="1">
                <a:solidFill>
                  <a:srgbClr val="000000"/>
                </a:solidFill>
                <a:latin typeface="Arial" panose="020B0604020202020204" pitchFamily="34" charset="0"/>
              </a:rPr>
              <a:t>long_context</a:t>
            </a:r>
            <a:endParaRPr lang="ru-RU" altLang="ru-RU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3CFEA-318F-81FA-15E2-26A3CB579B45}"/>
              </a:ext>
            </a:extLst>
          </p:cNvPr>
          <p:cNvSpPr txBox="1"/>
          <p:nvPr/>
        </p:nvSpPr>
        <p:spPr>
          <a:xfrm>
            <a:off x="428173" y="3111347"/>
            <a:ext cx="116410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NQ (Natural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Questions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реальные анонимные поисковые запросы пользователей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Запросы охватывают самые разные темы — это универсальный бенчмарк для задач общего поиска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FiQA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датасет финансовых вопросов и ответов (инвестиции, налоги, страхование). Ключевая особенность: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один релевантный документ на запрос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NDCG становится бинарной метрикой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NFCorpus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медицинский датасет по вопросам питания и здоровья. Используется для оценки ранжирования в специализированных доменах</a:t>
            </a:r>
          </a:p>
        </p:txBody>
      </p:sp>
    </p:spTree>
    <p:extLst>
      <p:ext uri="{BB962C8B-B14F-4D97-AF65-F5344CB8AC3E}">
        <p14:creationId xmlns:p14="http://schemas.microsoft.com/office/powerpoint/2010/main" val="96322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4CA0-C05D-AC6B-BD3C-37E2B11F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58F3F2-2DAB-AEA0-99E4-7E0EFCE34B8A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83BF3-0952-BA1B-DDBB-5ABF34DB4913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6CC15-3B73-2745-713B-A63F108FDFA5}"/>
              </a:ext>
            </a:extLst>
          </p:cNvPr>
          <p:cNvSpPr txBox="1"/>
          <p:nvPr/>
        </p:nvSpPr>
        <p:spPr>
          <a:xfrm>
            <a:off x="884168" y="1517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Методология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17B3640-5907-5806-CBE3-815FDBA41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74880"/>
              </p:ext>
            </p:extLst>
          </p:nvPr>
        </p:nvGraphicFramePr>
        <p:xfrm>
          <a:off x="1155072" y="2277015"/>
          <a:ext cx="8640232" cy="228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58">
                  <a:extLst>
                    <a:ext uri="{9D8B030D-6E8A-4147-A177-3AD203B41FA5}">
                      <a16:colId xmlns:a16="http://schemas.microsoft.com/office/drawing/2014/main" val="2880635547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3149202939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1098417480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3020781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Bi-Encoder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Reranker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Что проверяем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4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MiniLM-L6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RR-small (L6)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Базовая конфигурация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19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MiniLM-L6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RR-large (L12)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Влияние размера </a:t>
                      </a:r>
                      <a:r>
                        <a:rPr lang="en-US" dirty="0"/>
                        <a:t>RR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2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E5-small-v2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RR-small (L6)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Влияние качества </a:t>
                      </a:r>
                      <a:r>
                        <a:rPr lang="en-US" dirty="0"/>
                        <a:t>BE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292843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BC91CA5-85A4-23FF-0571-80BD3A47D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88" y="1118800"/>
            <a:ext cx="103438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</a:rPr>
              <a:t>Принцип выбора пар — изоляция факторов влияния: в каждом эксперименте меняется только один параметр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D395AF4-D887-5643-B3A1-2B392A389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66" y="5519724"/>
            <a:ext cx="114602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</a:rPr>
              <a:t>Гибридный режим: BE отбирает </a:t>
            </a:r>
            <a:r>
              <a:rPr lang="ru-RU" altLang="ru-RU" dirty="0" err="1">
                <a:solidFill>
                  <a:srgbClr val="000000"/>
                </a:solidFill>
              </a:rPr>
              <a:t>k</a:t>
            </a:r>
            <a:r>
              <a:rPr lang="ru-RU" altLang="ru-RU" dirty="0">
                <a:solidFill>
                  <a:srgbClr val="000000"/>
                </a:solidFill>
              </a:rPr>
              <a:t> кандидатов → RR переаранжирует. Перебирались значения </a:t>
            </a:r>
            <a:r>
              <a:rPr lang="ru-RU" altLang="ru-RU" dirty="0" err="1">
                <a:solidFill>
                  <a:srgbClr val="000000"/>
                </a:solidFill>
              </a:rPr>
              <a:t>k</a:t>
            </a:r>
            <a:r>
              <a:rPr lang="ru-RU" altLang="ru-RU" dirty="0">
                <a:solidFill>
                  <a:srgbClr val="000000"/>
                </a:solidFill>
              </a:rPr>
              <a:t> = 10, 20, 50, 100</a:t>
            </a:r>
          </a:p>
        </p:txBody>
      </p:sp>
    </p:spTree>
    <p:extLst>
      <p:ext uri="{BB962C8B-B14F-4D97-AF65-F5344CB8AC3E}">
        <p14:creationId xmlns:p14="http://schemas.microsoft.com/office/powerpoint/2010/main" val="380466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DEFA-C708-B460-C6A0-C0F7EC91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38C7BD-B96A-CC35-C980-153A43D5A3B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C5F45-772F-156E-0648-DE99760A8549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9B26C-6C68-615A-999C-5C5A675B48E5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Метрики оценки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53A5800-7FA4-AEB2-25EC-2126B45AF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16" y="1336431"/>
            <a:ext cx="106189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Основные метрики: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" dirty="0"/>
              <a:t>NDCG@10 — </a:t>
            </a:r>
            <a:r>
              <a:rPr lang="ru-RU" dirty="0"/>
              <a:t>учитывает как релевантность документа, так и его позицию в списке (чем выше релевантный документ, тем больше вклад)</a:t>
            </a:r>
          </a:p>
          <a:p>
            <a:pPr marL="342900" indent="-342900">
              <a:buFont typeface="+mj-lt"/>
              <a:buAutoNum type="arabicPeriod"/>
            </a:pPr>
            <a:r>
              <a:rPr lang="en" dirty="0"/>
              <a:t>MRR (Mean Reciprocal Rank) — </a:t>
            </a:r>
            <a:r>
              <a:rPr lang="ru-RU" dirty="0"/>
              <a:t>показывает, насколько быстро пользователь находит первый релевантный результат</a:t>
            </a:r>
          </a:p>
          <a:p>
            <a:pPr marL="342900" indent="-342900">
              <a:buFont typeface="+mj-lt"/>
              <a:buAutoNum type="arabicPeriod"/>
            </a:pPr>
            <a:r>
              <a:rPr lang="en" dirty="0"/>
              <a:t>Precision@10 — </a:t>
            </a:r>
            <a:r>
              <a:rPr lang="ru-RU" dirty="0"/>
              <a:t>доля релевантных документов среди первых десяти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Дополнительный анализ: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ru-RU" dirty="0"/>
              <a:t>Корреляция </a:t>
            </a:r>
            <a:r>
              <a:rPr lang="ru-RU" altLang="ru-RU" dirty="0" err="1"/>
              <a:t>Спирмена</a:t>
            </a:r>
            <a:r>
              <a:rPr lang="ru-RU" altLang="ru-RU" dirty="0"/>
              <a:t> - оценка согласованности ранжирования BE и RR по отдельным запросам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altLang="ru-RU" dirty="0"/>
              <a:t>Тест </a:t>
            </a:r>
            <a:r>
              <a:rPr lang="ru-RU" altLang="ru-RU" dirty="0" err="1"/>
              <a:t>Вилкоксона</a:t>
            </a:r>
            <a:r>
              <a:rPr lang="ru-RU" altLang="ru-RU" dirty="0"/>
              <a:t> - проверка статистической значимости различий BE </a:t>
            </a:r>
            <a:r>
              <a:rPr lang="ru-RU" altLang="ru-RU" dirty="0" err="1"/>
              <a:t>vs</a:t>
            </a:r>
            <a:r>
              <a:rPr lang="ru-RU" altLang="ru-RU" dirty="0"/>
              <a:t> RR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77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19D0-08AE-D411-1D58-CC4C2C87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EAD307-8442-E934-DB00-A788B562BB94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D5C07-B579-552A-7B3E-9546AD53F3F4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381AC-B2C1-224E-2B8C-644A39C4E7F8}"/>
              </a:ext>
            </a:extLst>
          </p:cNvPr>
          <p:cNvSpPr txBox="1"/>
          <p:nvPr/>
        </p:nvSpPr>
        <p:spPr>
          <a:xfrm>
            <a:off x="884168" y="181465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2800" b="1">
                <a:solidFill>
                  <a:srgbClr val="BE003E"/>
                </a:solidFill>
                <a:cs typeface="Times New Roman" panose="02020603050405020304" pitchFamily="18" charset="0"/>
              </a:rPr>
              <a:t>Главный результат: кросс-датасетное сравнение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D8E6CDF-9A38-9FCF-B49F-A9CA6C801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636461"/>
              </p:ext>
            </p:extLst>
          </p:nvPr>
        </p:nvGraphicFramePr>
        <p:xfrm>
          <a:off x="5975182" y="920649"/>
          <a:ext cx="5623488" cy="1551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72">
                  <a:extLst>
                    <a:ext uri="{9D8B030D-6E8A-4147-A177-3AD203B41FA5}">
                      <a16:colId xmlns:a16="http://schemas.microsoft.com/office/drawing/2014/main" val="3205008011"/>
                    </a:ext>
                  </a:extLst>
                </a:gridCol>
                <a:gridCol w="1405872">
                  <a:extLst>
                    <a:ext uri="{9D8B030D-6E8A-4147-A177-3AD203B41FA5}">
                      <a16:colId xmlns:a16="http://schemas.microsoft.com/office/drawing/2014/main" val="1620094494"/>
                    </a:ext>
                  </a:extLst>
                </a:gridCol>
                <a:gridCol w="1405872">
                  <a:extLst>
                    <a:ext uri="{9D8B030D-6E8A-4147-A177-3AD203B41FA5}">
                      <a16:colId xmlns:a16="http://schemas.microsoft.com/office/drawing/2014/main" val="1779725634"/>
                    </a:ext>
                  </a:extLst>
                </a:gridCol>
                <a:gridCol w="1405872">
                  <a:extLst>
                    <a:ext uri="{9D8B030D-6E8A-4147-A177-3AD203B41FA5}">
                      <a16:colId xmlns:a16="http://schemas.microsoft.com/office/drawing/2014/main" val="2950136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Датасет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RR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Прирост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NQ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r>
                        <a:rPr lang="ru-RU" dirty="0"/>
                        <a:t>.852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0.900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+5,6%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49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FiQA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+0,7%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879676"/>
                  </a:ext>
                </a:extLst>
              </a:tr>
              <a:tr h="4389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NFCorpus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+8,3%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172964"/>
                  </a:ext>
                </a:extLst>
              </a:tr>
            </a:tbl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0F6527B4-B84E-A6B3-CD50-EB222B6D0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680" y="1143516"/>
            <a:ext cx="4893483" cy="652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anose="020B0604020202020204" pitchFamily="34" charset="0"/>
              </a:rPr>
              <a:t>Прирост NDCG@10 </a:t>
            </a:r>
            <a:r>
              <a:rPr lang="ru-RU" altLang="ru-RU" dirty="0" err="1">
                <a:latin typeface="Arial" panose="020B0604020202020204" pitchFamily="34" charset="0"/>
              </a:rPr>
              <a:t>Reranker</a:t>
            </a:r>
            <a:r>
              <a:rPr lang="ru-RU" altLang="ru-RU" dirty="0">
                <a:latin typeface="Arial" panose="020B0604020202020204" pitchFamily="34" charset="0"/>
              </a:rPr>
              <a:t> над </a:t>
            </a:r>
            <a:r>
              <a:rPr lang="ru-RU" altLang="ru-RU" dirty="0" err="1">
                <a:latin typeface="Arial" panose="020B0604020202020204" pitchFamily="34" charset="0"/>
              </a:rPr>
              <a:t>Bi-Encoder</a:t>
            </a:r>
            <a:r>
              <a:rPr lang="ru-RU" altLang="ru-RU" dirty="0">
                <a:latin typeface="Arial" panose="020B0604020202020204" pitchFamily="34" charset="0"/>
              </a:rPr>
              <a:t> (Пара 1: </a:t>
            </a:r>
            <a:r>
              <a:rPr lang="ru-RU" altLang="ru-RU" dirty="0" err="1">
                <a:latin typeface="Arial" panose="020B0604020202020204" pitchFamily="34" charset="0"/>
              </a:rPr>
              <a:t>MiniLM</a:t>
            </a:r>
            <a:r>
              <a:rPr lang="ru-RU" altLang="ru-RU" dirty="0">
                <a:latin typeface="Arial" panose="020B0604020202020204" pitchFamily="34" charset="0"/>
              </a:rPr>
              <a:t> + RR-</a:t>
            </a:r>
            <a:r>
              <a:rPr lang="ru-RU" altLang="ru-RU" dirty="0" err="1">
                <a:latin typeface="Arial" panose="020B0604020202020204" pitchFamily="34" charset="0"/>
              </a:rPr>
              <a:t>small</a:t>
            </a:r>
            <a:r>
              <a:rPr lang="ru-RU" altLang="ru-RU" dirty="0">
                <a:latin typeface="Arial" panose="020B0604020202020204" pitchFamily="34" charset="0"/>
              </a:rPr>
              <a:t>):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CC7669-EE7E-8358-D652-E2BCE030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26" y="2585898"/>
            <a:ext cx="9710925" cy="414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1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CC65-7B7E-950D-71F2-D4EA486D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782126-0DD9-9B70-6261-D1C364C10598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50C60-993E-7D6A-7C0C-91C2F182AACF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BEC54-074C-6373-E6E1-9E5E38DCFAB3}"/>
              </a:ext>
            </a:extLst>
          </p:cNvPr>
          <p:cNvSpPr txBox="1"/>
          <p:nvPr/>
        </p:nvSpPr>
        <p:spPr>
          <a:xfrm>
            <a:off x="884168" y="162949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2800" b="1">
                <a:solidFill>
                  <a:srgbClr val="BE003E"/>
                </a:solidFill>
                <a:cs typeface="Times New Roman" panose="02020603050405020304" pitchFamily="18" charset="0"/>
              </a:rPr>
              <a:t>Сравнение пар моделей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453C7-4DD6-EB98-0481-3AEE39362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85" y="1540726"/>
            <a:ext cx="465768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e5-small-v2 лучше MiniLM-L6 во всех датасетах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при одинаковом размере: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NQ: +5.3% (0.852 → 0.897)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NFCorpus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+4.7% (0.319 → 0.334)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FiQA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+0.6% (0.389 → 0.392)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RR-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(L12) не оправдывает себя: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NQ даёт лишь +1.1% над RR-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small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Но работает в 1.8× медленнее (493 мс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277 мс)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Вывод: замена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Bi-Encoder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более качественный эффективнее, чем наращивание мощности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Reranker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390B8B-287A-AC40-1909-588AB4D8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107" y="1441966"/>
            <a:ext cx="8250243" cy="479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91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E9FC-2E52-9FDB-D158-87888DA0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CF4189-949A-30AE-FE27-A64914FD8FF4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4A9B7-5387-DF14-BE18-1751F0BE4BAB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792E8-82B7-8E9A-93BC-00C6E96FE0FB}"/>
              </a:ext>
            </a:extLst>
          </p:cNvPr>
          <p:cNvSpPr txBox="1"/>
          <p:nvPr/>
        </p:nvSpPr>
        <p:spPr>
          <a:xfrm>
            <a:off x="884168" y="188476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Качество по типам запросов(</a:t>
            </a:r>
            <a:r>
              <a:rPr lang="en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NQ</a:t>
            </a:r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)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4F605C-352F-3892-D623-6118FA07B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5" y="1911382"/>
            <a:ext cx="465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NDCG@10 по типам, Пара 1 (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MiniLM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+ RR-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small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):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2EAA25-C0F0-9B0A-1492-D34D80B6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1" y="820173"/>
            <a:ext cx="8009884" cy="56621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DBCC72-4CA8-1CF9-0709-803CB8D5A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5" y="2794156"/>
            <a:ext cx="4650736" cy="153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2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9E3F-AB08-A54A-EB6F-73B42B1F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77B8F9-2CC9-0D46-B65F-C5BB5857057C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9AEB2-60C2-08E2-C1AE-867473EA4066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C3046-173B-96B3-6F30-F65E374A7525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Качество по типам запросов(</a:t>
            </a:r>
            <a:r>
              <a:rPr lang="en-US" sz="28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FiQA</a:t>
            </a:r>
            <a:r>
              <a:rPr lang="en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 + </a:t>
            </a:r>
            <a:r>
              <a:rPr lang="en-US" sz="28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NFCorpus</a:t>
            </a:r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)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455A1A-D15A-FE64-296B-8A43D6C6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98" y="660073"/>
            <a:ext cx="8603954" cy="591657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B230BFB-C1E9-9BE4-DE9C-BBBB06C58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84" y="1441966"/>
            <a:ext cx="37235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 err="1"/>
              <a:t>FiQA</a:t>
            </a:r>
            <a:r>
              <a:rPr lang="ru-RU" altLang="ru-RU" dirty="0"/>
              <a:t> — только тип </a:t>
            </a:r>
            <a:r>
              <a:rPr lang="ru-RU" altLang="ru-RU" dirty="0" err="1"/>
              <a:t>negation</a:t>
            </a:r>
            <a:r>
              <a:rPr lang="ru-RU" altLang="ru-RU" dirty="0"/>
              <a:t> показывает заметный прирост (0.456 → 0.494, +8.4%)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Все остальные типы: разница незначима (</a:t>
            </a:r>
            <a:r>
              <a:rPr lang="ru-RU" altLang="ru-RU" dirty="0" err="1"/>
              <a:t>p</a:t>
            </a:r>
            <a:r>
              <a:rPr lang="ru-RU" altLang="ru-RU" dirty="0"/>
              <a:t> &gt; 0.05)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Причина: бинарная метрика на </a:t>
            </a:r>
            <a:r>
              <a:rPr lang="ru-RU" altLang="ru-RU" dirty="0" err="1"/>
              <a:t>однорелевантных</a:t>
            </a:r>
            <a:r>
              <a:rPr lang="ru-RU" altLang="ru-RU" dirty="0"/>
              <a:t> запросах</a:t>
            </a:r>
          </a:p>
        </p:txBody>
      </p:sp>
    </p:spTree>
    <p:extLst>
      <p:ext uri="{BB962C8B-B14F-4D97-AF65-F5344CB8AC3E}">
        <p14:creationId xmlns:p14="http://schemas.microsoft.com/office/powerpoint/2010/main" val="143289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FE72-A86B-D799-619B-43D6ABE6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EED22E-7E8A-2E3F-AC38-DBC4B2A508F4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DCCA6-F22E-7014-5F2F-01188D52319F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CA5C1-E4D1-5CAD-27D3-70771BF241E6}"/>
              </a:ext>
            </a:extLst>
          </p:cNvPr>
          <p:cNvSpPr txBox="1"/>
          <p:nvPr/>
        </p:nvSpPr>
        <p:spPr>
          <a:xfrm>
            <a:off x="884168" y="154438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Качество по типам запросов(</a:t>
            </a:r>
            <a:r>
              <a:rPr lang="en-US" sz="28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FiQA</a:t>
            </a:r>
            <a:r>
              <a:rPr lang="en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 + </a:t>
            </a:r>
            <a:r>
              <a:rPr lang="en-US" sz="2800" b="1" dirty="0" err="1">
                <a:solidFill>
                  <a:srgbClr val="BE003E"/>
                </a:solidFill>
                <a:cs typeface="Times New Roman" panose="02020603050405020304" pitchFamily="18" charset="0"/>
              </a:rPr>
              <a:t>NFCorpus</a:t>
            </a:r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)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94F565-D7F5-B03E-7D3D-5A66ACC07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332" y="796793"/>
            <a:ext cx="8195249" cy="58015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0E1A267-8691-6BBB-4B93-B103801F2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9" y="1349634"/>
            <a:ext cx="40796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 err="1">
                <a:latin typeface="Arial" panose="020B0604020202020204" pitchFamily="34" charset="0"/>
              </a:rPr>
              <a:t>NFCorpus</a:t>
            </a:r>
            <a:r>
              <a:rPr lang="ru-RU" altLang="ru-RU" dirty="0">
                <a:latin typeface="Arial" panose="020B0604020202020204" pitchFamily="34" charset="0"/>
              </a:rPr>
              <a:t> — картина похожая. Прирост на </a:t>
            </a:r>
            <a:r>
              <a:rPr lang="ru-RU" altLang="ru-RU" dirty="0" err="1">
                <a:latin typeface="Arial" panose="020B0604020202020204" pitchFamily="34" charset="0"/>
              </a:rPr>
              <a:t>factoid</a:t>
            </a:r>
            <a:r>
              <a:rPr lang="ru-RU" altLang="ru-RU" dirty="0">
                <a:latin typeface="Arial" panose="020B0604020202020204" pitchFamily="34" charset="0"/>
              </a:rPr>
              <a:t>: +0.039 (</a:t>
            </a:r>
            <a:r>
              <a:rPr lang="ru-RU" altLang="ru-RU" dirty="0" err="1">
                <a:latin typeface="Arial" panose="020B0604020202020204" pitchFamily="34" charset="0"/>
              </a:rPr>
              <a:t>p</a:t>
            </a:r>
            <a:r>
              <a:rPr lang="ru-RU" altLang="ru-RU" dirty="0">
                <a:latin typeface="Arial" panose="020B0604020202020204" pitchFamily="34" charset="0"/>
              </a:rPr>
              <a:t> &lt; 0.05)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 err="1">
                <a:latin typeface="Arial" panose="020B0604020202020204" pitchFamily="34" charset="0"/>
              </a:rPr>
              <a:t>Multi_aspect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negation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long_context</a:t>
            </a:r>
            <a:r>
              <a:rPr lang="ru-RU" altLang="ru-RU" dirty="0">
                <a:latin typeface="Arial" panose="020B0604020202020204" pitchFamily="34" charset="0"/>
              </a:rPr>
              <a:t>: незначимо или малопредставительная выборка (</a:t>
            </a:r>
            <a:r>
              <a:rPr lang="ru-RU" altLang="ru-RU" dirty="0" err="1">
                <a:latin typeface="Arial" panose="020B0604020202020204" pitchFamily="34" charset="0"/>
              </a:rPr>
              <a:t>n</a:t>
            </a:r>
            <a:r>
              <a:rPr lang="ru-RU" altLang="ru-RU" dirty="0">
                <a:latin typeface="Arial" panose="020B0604020202020204" pitchFamily="34" charset="0"/>
              </a:rPr>
              <a:t>=6 и </a:t>
            </a:r>
            <a:r>
              <a:rPr lang="ru-RU" altLang="ru-RU" dirty="0" err="1">
                <a:latin typeface="Arial" panose="020B0604020202020204" pitchFamily="34" charset="0"/>
              </a:rPr>
              <a:t>n</a:t>
            </a:r>
            <a:r>
              <a:rPr lang="ru-RU" altLang="ru-RU" dirty="0">
                <a:latin typeface="Arial" panose="020B0604020202020204" pitchFamily="34" charset="0"/>
              </a:rPr>
              <a:t>=1)</a:t>
            </a:r>
          </a:p>
        </p:txBody>
      </p:sp>
    </p:spTree>
    <p:extLst>
      <p:ext uri="{BB962C8B-B14F-4D97-AF65-F5344CB8AC3E}">
        <p14:creationId xmlns:p14="http://schemas.microsoft.com/office/powerpoint/2010/main" val="2330892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4DE9-0BF0-7551-4DFB-67503DC7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7ADBC74-274D-4696-22D9-2E86682C5225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C5925-0FD0-5C70-3D58-2AAE21879FDB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83EBE-C105-22DF-0DBC-1887F0441791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Точка насыщения </a:t>
            </a:r>
            <a:r>
              <a:rPr lang="en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Hybrid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7FC9F9-A9F0-5637-3E76-D68873B6B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2" y="3420269"/>
            <a:ext cx="10627701" cy="330862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1F32BB1-5884-D497-E70D-7B6D68F8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16" y="887968"/>
            <a:ext cx="10234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NDCG@10 =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k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), Пара 1 (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MiniLM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+ RR-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small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):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669DF6D-4485-1F1E-6F5B-5FD8D160F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61782"/>
              </p:ext>
            </p:extLst>
          </p:nvPr>
        </p:nvGraphicFramePr>
        <p:xfrm>
          <a:off x="600116" y="1441966"/>
          <a:ext cx="86402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58">
                  <a:extLst>
                    <a:ext uri="{9D8B030D-6E8A-4147-A177-3AD203B41FA5}">
                      <a16:colId xmlns:a16="http://schemas.microsoft.com/office/drawing/2014/main" val="1734706809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1496691425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2269248610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256576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NQ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FiQA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NFCorpus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48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51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0.407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0.337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84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70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12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81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4CDE-0264-C379-B9BA-92FB96AD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87FB0D-A938-8D19-B891-38A57059C117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68EEE-1500-C38A-EEA1-8DDBF3D59CBA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E5D5A-E8A1-6A27-4B76-6FA5712C2154}"/>
              </a:ext>
            </a:extLst>
          </p:cNvPr>
          <p:cNvSpPr txBox="1"/>
          <p:nvPr/>
        </p:nvSpPr>
        <p:spPr>
          <a:xfrm>
            <a:off x="884168" y="133039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Эффективность: цена качества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674CCD4-9BA9-0B97-5746-8C0749EBA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60482"/>
              </p:ext>
            </p:extLst>
          </p:nvPr>
        </p:nvGraphicFramePr>
        <p:xfrm>
          <a:off x="884168" y="1148495"/>
          <a:ext cx="8640235" cy="1477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847">
                  <a:extLst>
                    <a:ext uri="{9D8B030D-6E8A-4147-A177-3AD203B41FA5}">
                      <a16:colId xmlns:a16="http://schemas.microsoft.com/office/drawing/2014/main" val="594407679"/>
                    </a:ext>
                  </a:extLst>
                </a:gridCol>
                <a:gridCol w="1107831">
                  <a:extLst>
                    <a:ext uri="{9D8B030D-6E8A-4147-A177-3AD203B41FA5}">
                      <a16:colId xmlns:a16="http://schemas.microsoft.com/office/drawing/2014/main" val="417088475"/>
                    </a:ext>
                  </a:extLst>
                </a:gridCol>
                <a:gridCol w="1320463">
                  <a:extLst>
                    <a:ext uri="{9D8B030D-6E8A-4147-A177-3AD203B41FA5}">
                      <a16:colId xmlns:a16="http://schemas.microsoft.com/office/drawing/2014/main" val="1021241232"/>
                    </a:ext>
                  </a:extLst>
                </a:gridCol>
                <a:gridCol w="1728047">
                  <a:extLst>
                    <a:ext uri="{9D8B030D-6E8A-4147-A177-3AD203B41FA5}">
                      <a16:colId xmlns:a16="http://schemas.microsoft.com/office/drawing/2014/main" val="990939530"/>
                    </a:ext>
                  </a:extLst>
                </a:gridCol>
                <a:gridCol w="1728047">
                  <a:extLst>
                    <a:ext uri="{9D8B030D-6E8A-4147-A177-3AD203B41FA5}">
                      <a16:colId xmlns:a16="http://schemas.microsoft.com/office/drawing/2014/main" val="145420692"/>
                    </a:ext>
                  </a:extLst>
                </a:gridCol>
              </a:tblGrid>
              <a:tr h="20157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BE, </a:t>
                      </a:r>
                      <a:r>
                        <a:rPr lang="ru-RU" dirty="0"/>
                        <a:t>мс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RR,</a:t>
                      </a:r>
                      <a:r>
                        <a:rPr lang="ru-RU" dirty="0"/>
                        <a:t>мс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NDGG@10 RR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Прирост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619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 1: </a:t>
                      </a:r>
                      <a:r>
                        <a:rPr lang="en" sz="1795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MiniLM</a:t>
                      </a:r>
                      <a:r>
                        <a:rPr lang="en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RR-</a:t>
                      </a:r>
                      <a:r>
                        <a:rPr lang="en" sz="1795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14-28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277-538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0.346–0.900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+5.6–8.3%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61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Пара 2: </a:t>
                      </a:r>
                      <a:r>
                        <a:rPr lang="en" dirty="0" err="1"/>
                        <a:t>MiniLM</a:t>
                      </a:r>
                      <a:r>
                        <a:rPr lang="en" dirty="0"/>
                        <a:t> + RR-large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14-28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493-1001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0.334–0.909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+4.5–6.7%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8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 3: </a:t>
                      </a:r>
                      <a:r>
                        <a:rPr lang="en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e5 + RR-small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21-35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301-568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0.343–0.900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+2.7–5.3%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0772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6CB122-737C-E669-D7EE-8C1BAA61C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16" y="2797215"/>
            <a:ext cx="10990336" cy="364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78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4CD7-EB73-9B9B-B838-A0884387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4EBD20-D184-7517-B3A0-D72A692F546E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7A0C8-E48E-830A-B1B1-D22D2B4D15AE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7D91-D2EB-2F26-0DEE-53BE5AF4B763}"/>
              </a:ext>
            </a:extLst>
          </p:cNvPr>
          <p:cNvSpPr txBox="1"/>
          <p:nvPr/>
        </p:nvSpPr>
        <p:spPr>
          <a:xfrm>
            <a:off x="884168" y="16469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Анализ ошибок (</a:t>
            </a:r>
            <a:r>
              <a:rPr lang="en-US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win/loss)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A591EF-705B-D5C0-7834-29D67664B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4" y="2558616"/>
            <a:ext cx="9988235" cy="395660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8578C21-F8B4-8A1A-F923-7364DEA9E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42" y="1067062"/>
            <a:ext cx="109692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 иногда превосходит RR на коротких однозначных запросах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multi_aspect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negation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 где релевантность определяется поверхностным совпадением терминов.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NFCorpus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распределение побед смещено в сторону RR на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factoid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-запросах (где прирост статистически значим), на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multi_aspect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модели сопоставимы.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92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5219-8E38-38A2-0361-FE258A7E8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C5F989-EA74-E861-E480-BA8E849F0938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E6BE-7B7C-757D-ABCB-307FBD2B7A9A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E3355-2853-73F2-54CC-87E6DE087264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Корреляция и стабильность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2658568-F0FF-C268-7DB9-7C7A74B3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311" y="2824914"/>
            <a:ext cx="6829128" cy="397981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5BEECE-63E7-5691-B611-47863EAE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01" y="53075"/>
            <a:ext cx="7190949" cy="256671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F0B60D6-0035-130F-9F98-0889FA77C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28" y="1336431"/>
            <a:ext cx="472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Корреляция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Спирмена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BE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vs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RR (NDCG@10 по запросам), NQ: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97934FE-A217-D9F0-EBAF-9E155B94A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73693"/>
              </p:ext>
            </p:extLst>
          </p:nvPr>
        </p:nvGraphicFramePr>
        <p:xfrm>
          <a:off x="86697" y="2187547"/>
          <a:ext cx="5682704" cy="224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676">
                  <a:extLst>
                    <a:ext uri="{9D8B030D-6E8A-4147-A177-3AD203B41FA5}">
                      <a16:colId xmlns:a16="http://schemas.microsoft.com/office/drawing/2014/main" val="897076474"/>
                    </a:ext>
                  </a:extLst>
                </a:gridCol>
                <a:gridCol w="1420676">
                  <a:extLst>
                    <a:ext uri="{9D8B030D-6E8A-4147-A177-3AD203B41FA5}">
                      <a16:colId xmlns:a16="http://schemas.microsoft.com/office/drawing/2014/main" val="1667526929"/>
                    </a:ext>
                  </a:extLst>
                </a:gridCol>
                <a:gridCol w="1420676">
                  <a:extLst>
                    <a:ext uri="{9D8B030D-6E8A-4147-A177-3AD203B41FA5}">
                      <a16:colId xmlns:a16="http://schemas.microsoft.com/office/drawing/2014/main" val="1756825989"/>
                    </a:ext>
                  </a:extLst>
                </a:gridCol>
                <a:gridCol w="1420676">
                  <a:extLst>
                    <a:ext uri="{9D8B030D-6E8A-4147-A177-3AD203B41FA5}">
                      <a16:colId xmlns:a16="http://schemas.microsoft.com/office/drawing/2014/main" val="1596074333"/>
                    </a:ext>
                  </a:extLst>
                </a:gridCol>
              </a:tblGrid>
              <a:tr h="448180"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074434"/>
                  </a:ext>
                </a:extLst>
              </a:tr>
              <a:tr h="448180">
                <a:tc>
                  <a:txBody>
                    <a:bodyPr/>
                    <a:lstStyle/>
                    <a:p>
                      <a:r>
                        <a:rPr lang="en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831288"/>
                  </a:ext>
                </a:extLst>
              </a:tr>
              <a:tr h="448180">
                <a:tc>
                  <a:txBody>
                    <a:bodyPr/>
                    <a:lstStyle/>
                    <a:p>
                      <a:r>
                        <a:rPr lang="en" sz="1795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multi_aspect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363095"/>
                  </a:ext>
                </a:extLst>
              </a:tr>
              <a:tr h="448180">
                <a:tc>
                  <a:txBody>
                    <a:bodyPr/>
                    <a:lstStyle/>
                    <a:p>
                      <a:r>
                        <a:rPr lang="en" sz="1795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negation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60259"/>
                  </a:ext>
                </a:extLst>
              </a:tr>
              <a:tr h="448180">
                <a:tc>
                  <a:txBody>
                    <a:bodyPr/>
                    <a:lstStyle/>
                    <a:p>
                      <a:r>
                        <a:rPr lang="en" sz="1795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long_context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961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34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2412-634B-1ADF-7EED-7D3C755A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9D4AF1F-774A-166E-9E14-F234F584BDBF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4A09A-2F10-77D4-C176-5380F4E25CC6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70927-AA16-7336-7161-2F281B04BF96}"/>
              </a:ext>
            </a:extLst>
          </p:cNvPr>
          <p:cNvSpPr txBox="1"/>
          <p:nvPr/>
        </p:nvSpPr>
        <p:spPr>
          <a:xfrm>
            <a:off x="884168" y="181221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Статистическая значимость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6710F-11D2-0121-EF0B-EF5D8EF7B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16" y="1325154"/>
            <a:ext cx="13224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Тест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Вилкоксона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(H0: разницы нет, порог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&lt; 0.05):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0C0C25A-C0C6-BA78-EBDD-790B6AA87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684024"/>
              </p:ext>
            </p:extLst>
          </p:nvPr>
        </p:nvGraphicFramePr>
        <p:xfrm>
          <a:off x="742141" y="2056592"/>
          <a:ext cx="86402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58">
                  <a:extLst>
                    <a:ext uri="{9D8B030D-6E8A-4147-A177-3AD203B41FA5}">
                      <a16:colId xmlns:a16="http://schemas.microsoft.com/office/drawing/2014/main" val="2471227490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400497165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2988465632"/>
                    </a:ext>
                  </a:extLst>
                </a:gridCol>
                <a:gridCol w="2160058">
                  <a:extLst>
                    <a:ext uri="{9D8B030D-6E8A-4147-A177-3AD203B41FA5}">
                      <a16:colId xmlns:a16="http://schemas.microsoft.com/office/drawing/2014/main" val="4260737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Датасет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1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 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9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NQ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= 0.000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0.955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9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FiQA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= 0.758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0.789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0.841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76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NFCorpus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0.108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0.308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 = 0.265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04116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7A6E48B-CE30-FD1E-54C8-E344C568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41" y="4682086"/>
            <a:ext cx="100975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На NQ разница значима для Пар 1 и 2 (но не для Пары 3 — e5 BE уже так хорош, что RR почти не улучшает)</a:t>
            </a:r>
            <a:endParaRPr lang="en-US" alt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FiQA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: ни одна пара не значима — бинарная метрика</a:t>
            </a:r>
            <a:endParaRPr lang="en-US" alt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NFCorpus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: в целом незначимо, но на уровне типа 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factoid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 Пара 1 значима (</a:t>
            </a:r>
            <a:r>
              <a:rPr lang="ru-RU" altLang="ru-RU" dirty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ru-RU" altLang="ru-RU" dirty="0">
                <a:solidFill>
                  <a:srgbClr val="000000"/>
                </a:solidFill>
                <a:latin typeface="Arial" panose="020B0604020202020204" pitchFamily="34" charset="0"/>
              </a:rPr>
              <a:t>=0.03)</a:t>
            </a:r>
          </a:p>
        </p:txBody>
      </p:sp>
    </p:spTree>
    <p:extLst>
      <p:ext uri="{BB962C8B-B14F-4D97-AF65-F5344CB8AC3E}">
        <p14:creationId xmlns:p14="http://schemas.microsoft.com/office/powerpoint/2010/main" val="473526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F11D-3BED-7127-F262-65B9F811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B91ED19-D640-884F-D9F7-73231A83D5D2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C3CFE-3EC6-6E5A-D638-12A8433EACAE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C7DF1-3739-3494-6EAB-9ED3E4133674}"/>
              </a:ext>
            </a:extLst>
          </p:cNvPr>
          <p:cNvSpPr txBox="1"/>
          <p:nvPr/>
        </p:nvSpPr>
        <p:spPr>
          <a:xfrm>
            <a:off x="884168" y="160428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Основные выводы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2768A3-EB1C-890F-2041-6CB79D4CC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4" y="1123486"/>
            <a:ext cx="368675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RR превосходит BE 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NQ (+5.6%) и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NFCorpus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(+8.3%), но на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FiQA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разница статистически незначима — из-за бинарной NDCG на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однорелевантных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запросах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Качество BE важнее мощности RR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e5-small-v2 лучше MiniLM-L6 во всех датасетах (+4.7–5.3%), тогда как RR-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превосходит RR-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лишь незначительно при вдвое большем времени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Hybrid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=20 — оптимальный выбор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сокращает время в 3–4× по сравнению с полным RR без заметных потерь в качестве. Увеличение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 50 избыточно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RR наиболее ценен на сложных типах запросов 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negation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long_context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где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cross-attention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улавливает то, что BE теряет при независимом кодировании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Рекомендуемая конфигурация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e5-small-v2 (BE) + RR-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L6 (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Reranker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в режиме Hybrid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=20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A8EB05-E7F5-564A-7527-D0FD29DA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833" y="109996"/>
            <a:ext cx="8775517" cy="66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12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B546-B496-B314-5B52-FD8C1F29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B1A02E-B4BC-C9CC-657B-D6B5D4B2ACCC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FD090-EE59-98E2-5967-00D8687DD259}"/>
              </a:ext>
            </a:extLst>
          </p:cNvPr>
          <p:cNvSpPr txBox="1"/>
          <p:nvPr/>
        </p:nvSpPr>
        <p:spPr>
          <a:xfrm>
            <a:off x="5290457" y="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8073B-C942-19F6-C3C9-652FF57B277C}"/>
              </a:ext>
            </a:extLst>
          </p:cNvPr>
          <p:cNvSpPr txBox="1"/>
          <p:nvPr/>
        </p:nvSpPr>
        <p:spPr>
          <a:xfrm>
            <a:off x="884168" y="136853"/>
            <a:ext cx="9813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cs typeface="Times New Roman" panose="02020603050405020304" pitchFamily="18" charset="0"/>
              </a:rPr>
              <a:t>Вывод</a:t>
            </a:r>
            <a:endParaRPr lang="ru-US" sz="2800" b="1" dirty="0">
              <a:solidFill>
                <a:srgbClr val="BE003E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F83AF48-F657-7846-52DF-7AB14A34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16" y="1626632"/>
            <a:ext cx="10920535" cy="253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Reranker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улучшает качество поиска, но не универсально — результат зависит от датасета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На NQ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NFCorpus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прирост ощутимый и статистически подтверждённый (+5.6% и +8.3%), на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FiQA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разница практически нулевая — из-за структуры датасета метрика не способна её уловить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Reranker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раскрывается на сложных запросах, особенно с отрицанием: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bi-encoder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кодирует запрос и документ независимо и теряет их взаимосвязь,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cross-encoder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видит пару целиком и улавливает семантику отрицания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685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34051</TotalTime>
  <Words>1423</Words>
  <Application>Microsoft Macintosh PowerPoint</Application>
  <PresentationFormat>Произвольный</PresentationFormat>
  <Paragraphs>250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a49619</cp:lastModifiedBy>
  <cp:revision>322</cp:revision>
  <cp:lastPrinted>2023-11-28T14:29:46Z</cp:lastPrinted>
  <dcterms:created xsi:type="dcterms:W3CDTF">2022-10-16T16:54:41Z</dcterms:created>
  <dcterms:modified xsi:type="dcterms:W3CDTF">2026-10-14T20:39:37Z</dcterms:modified>
</cp:coreProperties>
</file>